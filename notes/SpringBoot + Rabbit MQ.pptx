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62" r:id="rId4"/>
    <p:sldId id="263" r:id="rId5"/>
    <p:sldId id="264" r:id="rId6"/>
    <p:sldId id="266" r:id="rId7"/>
    <p:sldId id="268" r:id="rId8"/>
    <p:sldId id="269" r:id="rId9"/>
    <p:sldId id="271" r:id="rId10"/>
    <p:sldId id="272" r:id="rId11"/>
    <p:sldId id="270" r:id="rId12"/>
    <p:sldId id="265" r:id="rId13"/>
    <p:sldId id="260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52C3-7B90-CE32-DD11-8F4028833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BB813-A230-E0FB-C464-B4D95EE7E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A000-D5EE-C4BF-1F5C-F06A1330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3163C-C704-DDD6-C8C1-3D7F1CBC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D630F-39F0-3887-2B4B-BA8191110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0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209D-6C47-D07B-D889-8D90F711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F8010-A3E3-58EF-FB31-7C4EBDDF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D9CE5-96F1-D8B3-139C-39A49C12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B0894-2A96-4BDB-8146-9752D18D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797A9-025E-DB2B-E4B1-46FB095B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9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13D8-BE7F-9032-EDD7-3097AEE8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A5B4B-D689-5AC5-AF2E-152356B8A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7310-FC25-1BB3-E081-C8F9BA5A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E5B7-5636-6CB1-EC05-046E7583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EF164-9C7B-1C96-2193-AB6622CB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3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EC81-C139-67DC-33E7-1FB107F7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71232-FD81-6718-AD59-ED7D9E5E0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11A4A-7D64-7F22-60E7-E65B0FBFB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6016B-87AA-38FD-A042-BC692156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C6D5E-9302-5E3B-0CC4-8E81C78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5BD50-FFB5-B0C1-3BF4-D769E331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60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2068-B510-08AC-09EC-B3D3DAC9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824A0-5659-35C9-6C57-094AF04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0D975-D593-956F-F867-374DAC2FB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4B8AE-1899-8332-31F5-DE5AEE6D8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63FE2-EBF8-885B-6F05-57D9D45DB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240E22-A978-AE1B-934A-5C67430CB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C1A96-0180-622F-01B2-E2391A22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A6D5F-54F3-F0FC-95CD-E413B07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19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4F6A-6BCB-1AEB-4E6C-42990F79F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95816-97F0-8BCD-615D-92C5C9D5B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62AE0-2A00-9F32-795A-9C4D469F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05AB8-2E47-F544-AC1F-7181B971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3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15FC75-6629-4CD5-A6A9-7DE8B353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3C39A-DB51-1123-A1DE-9E2D2526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26F5D-6029-FC6C-07D4-1FFC37CC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63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5503-B930-CBE1-4A73-41AE4D88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77F1A-7C53-7DAA-E778-4C4D8FB4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66925-21B7-D8E4-02C3-30E0D081E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78D8F-7FA3-C0D7-BC38-E3325430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809AC-038E-BE4C-6628-77B14B06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A2205-C84C-00A3-EAEE-C21A4A54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29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1473-45CE-DC7A-8839-E8D688B6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2C931-CA65-F80A-38CA-39719F69F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26E65-380A-C344-AB4C-3745B64EC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71BB6-7905-41F8-7DED-D891B882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2086F-9886-9D9F-F610-932457C9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A1426-9749-2F1C-1C13-F564C3DA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20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E44B-26ED-18BC-2CD2-B1782372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64F61-6557-BF87-D7B5-6E7955733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A5736-CC43-50A4-C756-6E2A6361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A7630-72F2-3D38-506F-005E3209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15690-4DE1-A3BC-C3C0-D7029781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3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A0CF2-5F70-D5F2-01E6-837799ABB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2F6A2-6C0E-3E1F-6391-4ACB067C7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9F117-C7B6-3B35-4713-280431166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0971-C77C-8567-C3EF-820B18B8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1A53-C0C9-94CD-4AF1-92FD7C93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42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DBAF9-2589-210F-437E-FB537D5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3B231-7BBE-1E1B-664D-53C0F88E6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2E119-6A7A-AB8D-7484-DB1DE802C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5590C-F7F1-4B90-9C80-4142F2C7AF2A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934AD-E639-0B81-0AC5-147A638DA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A8D2C-ABEB-2B0B-FAD0-4EA9C56AB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00B59-85C8-4EAF-B52B-5FB84A7D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3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rlang.org/downloads" TargetMode="External"/><Relationship Id="rId2" Type="http://schemas.openxmlformats.org/officeDocument/2006/relationships/hyperlink" Target="https://www.rabbitmq.com/install-window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C0A1-1C1D-8549-9C60-D75356791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BC00E-F488-00E8-E610-26A455C5D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4C644-44EE-ED6A-51A3-997D6F8C4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675844" y="4581331"/>
            <a:ext cx="2460574" cy="216569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5C1046-DFEA-F58E-2B95-75C28DA547DF}"/>
              </a:ext>
            </a:extLst>
          </p:cNvPr>
          <p:cNvSpPr/>
          <p:nvPr/>
        </p:nvSpPr>
        <p:spPr>
          <a:xfrm>
            <a:off x="1165686" y="-475862"/>
            <a:ext cx="9487404" cy="313932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Rabbit</a:t>
            </a:r>
            <a:r>
              <a:rPr lang="en-US" sz="13800" b="0" cap="none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MQ</a:t>
            </a:r>
            <a:r>
              <a:rPr lang="en-US" sz="8800" b="0" cap="none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 </a:t>
            </a:r>
          </a:p>
          <a:p>
            <a:pPr algn="ctr"/>
            <a:r>
              <a:rPr lang="en-US" sz="6000" b="0" cap="none" spc="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ooper Black" panose="0208090404030B020404" pitchFamily="18" charset="0"/>
              </a:rPr>
              <a:t>Integration</a:t>
            </a:r>
            <a:endParaRPr lang="en-US" sz="6600" b="0" cap="none" spc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Cooper Black" panose="0208090404030B0204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904E7F-4CCF-4074-2350-924383AE4B29}"/>
              </a:ext>
            </a:extLst>
          </p:cNvPr>
          <p:cNvSpPr/>
          <p:nvPr/>
        </p:nvSpPr>
        <p:spPr>
          <a:xfrm>
            <a:off x="1105027" y="2474386"/>
            <a:ext cx="9608721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0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Spring Boot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BD8403-247C-82A3-6B7E-1F7F05D11C90}"/>
              </a:ext>
            </a:extLst>
          </p:cNvPr>
          <p:cNvSpPr/>
          <p:nvPr/>
        </p:nvSpPr>
        <p:spPr>
          <a:xfrm>
            <a:off x="2369519" y="3760237"/>
            <a:ext cx="717569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 </a:t>
            </a:r>
          </a:p>
          <a:p>
            <a:pPr algn="ctr"/>
            <a:r>
              <a:rPr lang="en-US" sz="54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Crash Course</a:t>
            </a:r>
            <a:endParaRPr lang="en-US" sz="5400" b="0" cap="none" spc="0" dirty="0">
              <a:ln w="0"/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B6CB5F-F7EC-E962-5F17-746C36647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9" y="4440221"/>
            <a:ext cx="2186449" cy="231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7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1139-C93C-F845-C66C-7C311191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Overview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FF3C9-FEDB-782C-7FB5-C3D2B20E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We are going to install RabbitMQ on Windows </a:t>
            </a:r>
          </a:p>
          <a:p>
            <a:r>
              <a:rPr lang="en-IN" dirty="0"/>
              <a:t>Discuss Basic Terminologies of RabbitMQ </a:t>
            </a:r>
          </a:p>
          <a:p>
            <a:r>
              <a:rPr lang="en-IN" dirty="0"/>
              <a:t>Discuss Basic Architecture of RabbitMQ</a:t>
            </a:r>
          </a:p>
          <a:p>
            <a:r>
              <a:rPr lang="en-IN" dirty="0"/>
              <a:t>Practically Create Exchange and Queue </a:t>
            </a:r>
          </a:p>
          <a:p>
            <a:r>
              <a:rPr lang="en-IN" dirty="0"/>
              <a:t>Publish and Consume Message</a:t>
            </a:r>
          </a:p>
          <a:p>
            <a:r>
              <a:rPr lang="en-IN" dirty="0"/>
              <a:t>Create  A Spring Boot App and Do Necessary Configuration to connect with Rabbit MQ</a:t>
            </a:r>
          </a:p>
          <a:p>
            <a:r>
              <a:rPr lang="en-IN" dirty="0"/>
              <a:t>Develop Producer and Consumer </a:t>
            </a:r>
          </a:p>
          <a:p>
            <a:r>
              <a:rPr lang="en-IN" dirty="0"/>
              <a:t>Publish message and consume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30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C4A-1922-3001-D371-0A182F4D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RabbitMQ And </a:t>
            </a:r>
            <a:r>
              <a:rPr lang="en-IN" dirty="0" err="1"/>
              <a:t>ERLang</a:t>
            </a:r>
            <a:r>
              <a:rPr lang="en-IN" dirty="0"/>
              <a:t> and Configure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9C77-E591-A505-7784-46B9E3181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Rabbit MQ :- link </a:t>
            </a:r>
            <a:r>
              <a:rPr lang="en-IN" dirty="0">
                <a:hlinkClick r:id="rId2"/>
              </a:rPr>
              <a:t>Installing on Windows — RabbitMQ</a:t>
            </a:r>
            <a:endParaRPr lang="en-IN" dirty="0"/>
          </a:p>
          <a:p>
            <a:endParaRPr lang="en-IN" dirty="0"/>
          </a:p>
          <a:p>
            <a:r>
              <a:rPr lang="en-IN" dirty="0"/>
              <a:t>Erlang link :- </a:t>
            </a:r>
            <a:r>
              <a:rPr lang="en-IN" dirty="0">
                <a:hlinkClick r:id="rId3"/>
              </a:rPr>
              <a:t>Downloads - Erlang/OTP</a:t>
            </a:r>
            <a:endParaRPr lang="en-IN" dirty="0"/>
          </a:p>
          <a:p>
            <a:endParaRPr lang="en-IN" dirty="0"/>
          </a:p>
          <a:p>
            <a:r>
              <a:rPr lang="en-IN" dirty="0"/>
              <a:t>Set Up Environment Variable for Erlang</a:t>
            </a:r>
          </a:p>
          <a:p>
            <a:r>
              <a:rPr lang="en-IN" b="0" i="0" dirty="0">
                <a:solidFill>
                  <a:srgbClr val="1F2328"/>
                </a:solidFill>
                <a:effectLst/>
                <a:latin typeface="-apple-system"/>
              </a:rPr>
              <a:t>Go to RabbitMQ Server install Directory C:\Program Files\RabbitMQ Server\rabbitmq_server\sbin</a:t>
            </a:r>
            <a:endParaRPr lang="en-IN" dirty="0">
              <a:solidFill>
                <a:srgbClr val="1F2328"/>
              </a:solidFill>
              <a:latin typeface="-apple-system"/>
            </a:endParaRPr>
          </a:p>
          <a:p>
            <a:pPr marL="0" indent="0">
              <a:buNone/>
            </a:pPr>
            <a:r>
              <a:rPr lang="en-IN" b="0" i="0" dirty="0">
                <a:solidFill>
                  <a:srgbClr val="1F2328"/>
                </a:solidFill>
                <a:effectLst/>
                <a:latin typeface="-apple-system"/>
              </a:rPr>
              <a:t>--Run command rabbitmq-plugins enable rabbitmq_management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028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E717-EA7E-BDED-4FC6-61038640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Rabbit MQ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94270-48F6-E5E4-A3C0-C4AE943C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RabbitMQ is a message broker: it accepts and forwards messages. You can think about it as a post office: when you put the mail that you want posting in a post box, you can be sure that the letter carrier will eventually deliver the mail to your recipient. In this analogy, RabbitMQ is a post box, a post office, and a letter carrier.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major difference between RabbitMQ and the post office is that it doesn't deal with paper, instead it accepts, stores, and forwards binary blobs of data ‒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messages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75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9BCA-A7A2-656A-AFD1-8FBF3E2B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Terminologies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3DB6B-6BAF-4662-8C95-63B11F9FE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Message</a:t>
            </a:r>
          </a:p>
          <a:p>
            <a:endParaRPr lang="en-IN" dirty="0"/>
          </a:p>
          <a:p>
            <a:r>
              <a:rPr lang="en-IN" dirty="0"/>
              <a:t>Producer/Publisher</a:t>
            </a:r>
          </a:p>
          <a:p>
            <a:endParaRPr lang="en-IN" dirty="0"/>
          </a:p>
          <a:p>
            <a:r>
              <a:rPr lang="en-IN" dirty="0"/>
              <a:t>Consumer/Subscriber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Exchange </a:t>
            </a:r>
          </a:p>
          <a:p>
            <a:endParaRPr lang="en-IN" dirty="0"/>
          </a:p>
          <a:p>
            <a:r>
              <a:rPr lang="en-IN" dirty="0"/>
              <a:t>Binding</a:t>
            </a:r>
          </a:p>
          <a:p>
            <a:endParaRPr lang="en-IN" dirty="0"/>
          </a:p>
          <a:p>
            <a:r>
              <a:rPr lang="en-IN" dirty="0"/>
              <a:t>Routing Key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Queue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19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710B-1363-5018-8A57-91F8F6A4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87A2B-9D32-BC4F-E687-F2ECB2178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A </a:t>
            </a:r>
            <a:r>
              <a:rPr lang="en-US" b="1" i="1" dirty="0">
                <a:solidFill>
                  <a:srgbClr val="000000"/>
                </a:solidFill>
                <a:effectLst/>
                <a:latin typeface="Raleway" pitchFamily="2" charset="0"/>
              </a:rPr>
              <a:t>producer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 is a user application that sends messages.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64720-89B8-455E-E7D9-F57CBABE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9172"/>
            <a:ext cx="12192000" cy="36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69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9D4E-F302-EBF7-ED47-93BA9286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Consumer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556C2-8E12-133D-1DAF-FB3B0E68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A </a:t>
            </a:r>
            <a:r>
              <a:rPr lang="en-US" b="1" i="1" dirty="0">
                <a:solidFill>
                  <a:srgbClr val="000000"/>
                </a:solidFill>
                <a:effectLst/>
                <a:latin typeface="Raleway" pitchFamily="2" charset="0"/>
              </a:rPr>
              <a:t>consumer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 is a user application that receives messages.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08E98-84FD-84E5-F604-AA93F77D0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36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29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F6B5-0BD2-A7B8-841F-BA74B1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Exchange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EC64-AF8C-FF9D-0ED4-AD511EFB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producer can only send messages to an 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exchange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 An exchange is a very simple thing. On one side it receives messages from producers and on the other side it pushes them to queues. The exchange must know exactly what to do with a message it receives. Should it be appended to a particular queue? Should it be appended to many queues? Or should it get discarded. The rules for that are defined by the 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exchange type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There are a few exchange types available: 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direct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 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topic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 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headers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and </a:t>
            </a:r>
            <a:r>
              <a:rPr lang="en-US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fanout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. </a:t>
            </a: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38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E42D6-15CC-2569-333D-7ED5E974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CABA-2876-0E40-0DE3-EE2D56F6B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A </a:t>
            </a:r>
            <a:r>
              <a:rPr lang="en-US" b="1" i="1" dirty="0">
                <a:solidFill>
                  <a:srgbClr val="000000"/>
                </a:solidFill>
                <a:effectLst/>
                <a:latin typeface="Raleway" pitchFamily="2" charset="0"/>
              </a:rPr>
              <a:t>queue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 is a buffer that stores messages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D4BF4-52DB-4C6B-6E64-EB8EA3AAE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36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8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65F8-856F-E3CF-A72C-D6A5018F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0F9FA-A36D-2E03-5205-E64D1D3CA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Now we need to tell the exchange to send messages to our queue. That relationship between exchange and a queue is called a </a:t>
            </a:r>
            <a:r>
              <a:rPr lang="en-US" b="1" i="1" dirty="0">
                <a:solidFill>
                  <a:srgbClr val="000000"/>
                </a:solidFill>
                <a:effectLst/>
                <a:latin typeface="Raleway" pitchFamily="2" charset="0"/>
              </a:rPr>
              <a:t>binding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68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9349-A16A-743D-2590-E6B9EF74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Routing Key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C8FE0E-23CE-D818-170A-6A35C791D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It’s a key that tell exchange exactly to which queue the message should be send .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1445A53-36E2-9F1C-6E3B-EF0884310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7" y="2779464"/>
            <a:ext cx="10515600" cy="353243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668987-4C51-F677-94D0-6047EB69FEF7}"/>
              </a:ext>
            </a:extLst>
          </p:cNvPr>
          <p:cNvSpPr/>
          <p:nvPr/>
        </p:nvSpPr>
        <p:spPr>
          <a:xfrm>
            <a:off x="5607698" y="3960907"/>
            <a:ext cx="111187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Routing Key</a:t>
            </a:r>
            <a:endParaRPr lang="en-US" sz="1600" b="0" cap="none" spc="0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379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A3D9E-2D8E-17B3-420F-DFC9ACE4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Basic Working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D1EB2-9C08-8358-C945-3BABD1981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828799"/>
            <a:ext cx="10523376" cy="434816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9D8D5A-3F1A-E761-51ED-3C867886F69B}"/>
              </a:ext>
            </a:extLst>
          </p:cNvPr>
          <p:cNvSpPr/>
          <p:nvPr/>
        </p:nvSpPr>
        <p:spPr>
          <a:xfrm>
            <a:off x="885631" y="3554962"/>
            <a:ext cx="1567543" cy="6438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Producer	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451B95-91DC-345B-BFF7-AA1972BF9583}"/>
              </a:ext>
            </a:extLst>
          </p:cNvPr>
          <p:cNvSpPr/>
          <p:nvPr/>
        </p:nvSpPr>
        <p:spPr>
          <a:xfrm>
            <a:off x="9193763" y="3554962"/>
            <a:ext cx="1567543" cy="6438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Consumer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CB950-D409-6653-2774-79C938F0672F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>
            <a:off x="2453174" y="3876869"/>
            <a:ext cx="1120062" cy="33011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Graphic 14" descr="Email with solid fill">
            <a:extLst>
              <a:ext uri="{FF2B5EF4-FFF2-40B4-BE49-F238E27FC236}">
                <a16:creationId xmlns:a16="http://schemas.microsoft.com/office/drawing/2014/main" id="{B882BDB7-08A5-8CAE-8493-E1A232E74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47672" y="2818022"/>
            <a:ext cx="914400" cy="914400"/>
          </a:xfrm>
          <a:prstGeom prst="rect">
            <a:avLst/>
          </a:prstGeom>
        </p:spPr>
      </p:pic>
      <p:pic>
        <p:nvPicPr>
          <p:cNvPr id="17" name="Graphic 16" descr="Envelope with solid fill">
            <a:extLst>
              <a:ext uri="{FF2B5EF4-FFF2-40B4-BE49-F238E27FC236}">
                <a16:creationId xmlns:a16="http://schemas.microsoft.com/office/drawing/2014/main" id="{CEF536E7-A043-12EB-AEB4-3E25B5495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8836" y="2995481"/>
            <a:ext cx="914400" cy="914400"/>
          </a:xfrm>
          <a:prstGeom prst="rect">
            <a:avLst/>
          </a:prstGeom>
        </p:spPr>
      </p:pic>
      <p:pic>
        <p:nvPicPr>
          <p:cNvPr id="21" name="Graphic 20" descr="Computer with solid fill">
            <a:extLst>
              <a:ext uri="{FF2B5EF4-FFF2-40B4-BE49-F238E27FC236}">
                <a16:creationId xmlns:a16="http://schemas.microsoft.com/office/drawing/2014/main" id="{D6C97D88-BE6F-563D-E23B-E2D8F7847F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296" y="2640562"/>
            <a:ext cx="914400" cy="914400"/>
          </a:xfrm>
          <a:prstGeom prst="rect">
            <a:avLst/>
          </a:prstGeom>
        </p:spPr>
      </p:pic>
      <p:pic>
        <p:nvPicPr>
          <p:cNvPr id="23" name="Graphic 22" descr="Internet with solid fill">
            <a:extLst>
              <a:ext uri="{FF2B5EF4-FFF2-40B4-BE49-F238E27FC236}">
                <a16:creationId xmlns:a16="http://schemas.microsoft.com/office/drawing/2014/main" id="{CB62CD22-2E03-B81A-53EA-691534D691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85953" y="2640562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57AA74-5462-E5B4-2F25-AF0EBAA1C198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5771761" y="3909880"/>
            <a:ext cx="835908" cy="1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290C7A-0247-365C-BAE5-86F30EC2ABDB}"/>
              </a:ext>
            </a:extLst>
          </p:cNvPr>
          <p:cNvCxnSpPr>
            <a:cxnSpLocks/>
            <a:stCxn id="31" idx="4"/>
          </p:cNvCxnSpPr>
          <p:nvPr/>
        </p:nvCxnSpPr>
        <p:spPr>
          <a:xfrm>
            <a:off x="8428148" y="3909881"/>
            <a:ext cx="768336" cy="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Diamond 28">
            <a:extLst>
              <a:ext uri="{FF2B5EF4-FFF2-40B4-BE49-F238E27FC236}">
                <a16:creationId xmlns:a16="http://schemas.microsoft.com/office/drawing/2014/main" id="{D90DAC3B-9F9D-C0CB-A123-19723B8BBAE3}"/>
              </a:ext>
            </a:extLst>
          </p:cNvPr>
          <p:cNvSpPr/>
          <p:nvPr/>
        </p:nvSpPr>
        <p:spPr>
          <a:xfrm>
            <a:off x="3573236" y="3377736"/>
            <a:ext cx="2198525" cy="106428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Exchange</a:t>
            </a:r>
          </a:p>
        </p:txBody>
      </p:sp>
      <p:sp>
        <p:nvSpPr>
          <p:cNvPr id="31" name="Flowchart: Direct Access Storage 30">
            <a:extLst>
              <a:ext uri="{FF2B5EF4-FFF2-40B4-BE49-F238E27FC236}">
                <a16:creationId xmlns:a16="http://schemas.microsoft.com/office/drawing/2014/main" id="{E88433EA-5FCA-BDFC-985C-9ACACA672F79}"/>
              </a:ext>
            </a:extLst>
          </p:cNvPr>
          <p:cNvSpPr/>
          <p:nvPr/>
        </p:nvSpPr>
        <p:spPr>
          <a:xfrm>
            <a:off x="6607669" y="3571420"/>
            <a:ext cx="1820479" cy="67692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2DEDA5-04FD-FA3E-B041-B2EEF0DDF161}"/>
              </a:ext>
            </a:extLst>
          </p:cNvPr>
          <p:cNvSpPr/>
          <p:nvPr/>
        </p:nvSpPr>
        <p:spPr>
          <a:xfrm>
            <a:off x="2554649" y="4044818"/>
            <a:ext cx="9859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dirty="0"/>
              <a:t>Message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5E183B-DC61-5BB4-C87F-5349F598B5AA}"/>
              </a:ext>
            </a:extLst>
          </p:cNvPr>
          <p:cNvSpPr/>
          <p:nvPr/>
        </p:nvSpPr>
        <p:spPr>
          <a:xfrm>
            <a:off x="8319356" y="4119920"/>
            <a:ext cx="98591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dirty="0"/>
              <a:t>Message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82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9" grpId="0" animBg="1"/>
      <p:bldP spid="31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1139-C93C-F845-C66C-7C311191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Basic Architecture</a:t>
            </a:r>
          </a:p>
        </p:txBody>
      </p:sp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FAD5DAC8-612C-3BAC-34CA-FCEB3C43F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862" y="1825625"/>
            <a:ext cx="9336275" cy="435133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136531-94EE-591A-7B94-7EE675948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403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1139-C93C-F845-C66C-7C311191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Aptos" panose="020B0004020202020204" pitchFamily="34" charset="0"/>
              </a:rPr>
              <a:t>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5430EA-7243-5BEB-9CEB-985F5278A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4662"/>
            <a:ext cx="9375711" cy="457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7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2851</TotalTime>
  <Words>429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-apple-system</vt:lpstr>
      <vt:lpstr>Aptos</vt:lpstr>
      <vt:lpstr>Arial</vt:lpstr>
      <vt:lpstr>Arial Black</vt:lpstr>
      <vt:lpstr>Calibri</vt:lpstr>
      <vt:lpstr>Calibri Light</vt:lpstr>
      <vt:lpstr>Cooper Black</vt:lpstr>
      <vt:lpstr>Raleway</vt:lpstr>
      <vt:lpstr>Office Theme</vt:lpstr>
      <vt:lpstr>PowerPoint Presentation</vt:lpstr>
      <vt:lpstr>Course Overview </vt:lpstr>
      <vt:lpstr>Install RabbitMQ And ERLang and Configure</vt:lpstr>
      <vt:lpstr>What is Rabbit MQ</vt:lpstr>
      <vt:lpstr>Basic Terminologies  </vt:lpstr>
      <vt:lpstr>Producer</vt:lpstr>
      <vt:lpstr>Consumer</vt:lpstr>
      <vt:lpstr>Exchange </vt:lpstr>
      <vt:lpstr>Queue</vt:lpstr>
      <vt:lpstr>Binding</vt:lpstr>
      <vt:lpstr>Routing Key</vt:lpstr>
      <vt:lpstr>Basic Working  </vt:lpstr>
      <vt:lpstr>Basic Architecture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Vishnu Bovilla</cp:lastModifiedBy>
  <cp:revision>14</cp:revision>
  <dcterms:created xsi:type="dcterms:W3CDTF">2023-04-27T05:53:43Z</dcterms:created>
  <dcterms:modified xsi:type="dcterms:W3CDTF">2025-12-28T01:12:07Z</dcterms:modified>
</cp:coreProperties>
</file>